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 / day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F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942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Not literate</c:v>
                  </c:pt>
                  <c:pt idx="1">
                    <c:v>Diploma / Certificate</c:v>
                  </c:pt>
                  <c:pt idx="2">
                    <c:v>Graduate</c:v>
                  </c:pt>
                  <c:pt idx="3">
                    <c:v>Higher secondary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</c:v>
                </c:pt>
                <c:pt idx="1">
                  <c:v>6.46</c:v>
                </c:pt>
                <c:pt idx="2">
                  <c:v>6.53</c:v>
                </c:pt>
                <c:pt idx="3">
                  <c:v>6.56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B2F4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/ day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₹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F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942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Not literate</c:v>
                  </c:pt>
                  <c:pt idx="1">
                    <c:v>Diploma / Certificate</c:v>
                  </c:pt>
                  <c:pt idx="2">
                    <c:v>Graduate</c:v>
                  </c:pt>
                  <c:pt idx="3">
                    <c:v>Postgraduate and above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388.18</c:v>
                </c:pt>
                <c:pt idx="1">
                  <c:v>469.44</c:v>
                </c:pt>
                <c:pt idx="2">
                  <c:v>479.52</c:v>
                </c:pt>
                <c:pt idx="3">
                  <c:v>487.53</c:v>
                </c:pt>
              </c:numCache>
            </c:numRef>
          </c:val>
        </c:ser>
        <c:dLbls>
          <c:numFmt formatCode="₹0" sourceLinked="0"/>
          <c:txPr>
            <a:bodyPr/>
            <a:lstStyle/>
            <a:p>
              <a:pPr>
                <a:defRPr b="0" i="0" strike="noStrike" sz="1200" u="none">
                  <a:solidFill>
                    <a:srgbClr val="2B2F4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/ day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₹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F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942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Skilled Agricultural /
Forestry / Fishery</c:v>
                  </c:pt>
                  <c:pt idx="1">
                    <c:v>Plant &amp; Machine
Operators</c:v>
                  </c:pt>
                  <c:pt idx="2">
                    <c:v>Craft &amp; Related
Trades</c:v>
                  </c:pt>
                  <c:pt idx="3">
                    <c:v>Technicians &amp;
Associate Professionals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363.12</c:v>
                </c:pt>
                <c:pt idx="1">
                  <c:v>584.08</c:v>
                </c:pt>
                <c:pt idx="2">
                  <c:v>607.38</c:v>
                </c:pt>
                <c:pt idx="3">
                  <c:v>617.89</c:v>
                </c:pt>
              </c:numCache>
            </c:numRef>
          </c:val>
        </c:ser>
        <c:dLbls>
          <c:numFmt formatCode="₹0" sourceLinked="0"/>
          <c:txPr>
            <a:bodyPr/>
            <a:lstStyle/>
            <a:p>
              <a:pPr>
                <a:defRPr b="0" i="0" strike="noStrike" sz="1200" u="none">
                  <a:solidFill>
                    <a:srgbClr val="2B2F4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/ day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₹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F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942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Agriculture</c:v>
                  </c:pt>
                  <c:pt idx="1">
                    <c:v>Industry</c:v>
                  </c:pt>
                  <c:pt idx="2">
                    <c:v>Services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348.11</c:v>
                </c:pt>
                <c:pt idx="1">
                  <c:v>504.55</c:v>
                </c:pt>
                <c:pt idx="2">
                  <c:v>509.76</c:v>
                </c:pt>
              </c:numCache>
            </c:numRef>
          </c:val>
        </c:ser>
        <c:dLbls>
          <c:numFmt formatCode="₹0" sourceLinked="0"/>
          <c:txPr>
            <a:bodyPr/>
            <a:lstStyle/>
            <a:p>
              <a:pPr>
                <a:defRPr b="0" i="0" strike="noStrike" sz="1200" u="none">
                  <a:solidFill>
                    <a:srgbClr val="2B2F4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R²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F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942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Mean Baseline</c:v>
                  </c:pt>
                  <c:pt idx="1">
                    <c:v>Basic Random
Forest</c:v>
                  </c:pt>
                  <c:pt idx="2">
                    <c:v>Expanded Random
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0.227</c:v>
                </c:pt>
                <c:pt idx="2">
                  <c:v>0.309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2B2F4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Feature Importance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B2F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942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Sex = 1</c:v>
                  </c:pt>
                  <c:pt idx="1">
                    <c:v>Agriculture</c:v>
                  </c:pt>
                  <c:pt idx="2">
                    <c:v>Sex = 2</c:v>
                  </c:pt>
                  <c:pt idx="3">
                    <c:v>Avg. Daily Hours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7.78</c:v>
                </c:pt>
                <c:pt idx="1">
                  <c:v>10.12</c:v>
                </c:pt>
                <c:pt idx="2">
                  <c:v>14.26</c:v>
                </c:pt>
                <c:pt idx="3">
                  <c:v>23.99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B2F4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532120"/>
            <a:ext cx="310896" cy="457200"/>
          </a:xfrm>
          <a:prstGeom prst="rect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05872" y="5166360"/>
            <a:ext cx="310896" cy="822960"/>
          </a:xfrm>
          <a:prstGeom prst="rect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44784" y="4800600"/>
            <a:ext cx="310896" cy="1188720"/>
          </a:xfrm>
          <a:prstGeom prst="rect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283696" y="4389120"/>
            <a:ext cx="310896" cy="1600200"/>
          </a:xfrm>
          <a:prstGeom prst="rect">
            <a:avLst/>
          </a:prstGeom>
          <a:solidFill>
            <a:srgbClr val="CADCFC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722608" y="3977640"/>
            <a:ext cx="310896" cy="2011680"/>
          </a:xfrm>
          <a:prstGeom prst="rect">
            <a:avLst/>
          </a:prstGeom>
          <a:solidFill>
            <a:srgbClr val="C9942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317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PLFS WORKER-LEVEL DATA  •  MSC AI FOR BUSINESS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Labour Market Analytics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Daily Wages and Identifying Drivers of Wage Inequality in India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2011680" cy="0"/>
          </a:xfrm>
          <a:prstGeom prst="line">
            <a:avLst/>
          </a:prstGeom>
          <a:noFill/>
          <a:ln w="25400">
            <a:solidFill>
              <a:srgbClr val="C994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Labour Force Survey (PLFS)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Labour-market datasets are large and difficult to translate into decisions. Turning millions of worker-level records into clear, evidence-based guidance requires combining statistical rigor with modern predictive tools.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5074920"/>
            <a:ext cx="5577840" cy="1234440"/>
          </a:xfrm>
          <a:prstGeom prst="roundRect">
            <a:avLst>
              <a:gd name="adj" fmla="val 5926"/>
            </a:avLst>
          </a:prstGeom>
          <a:solidFill>
            <a:srgbClr val="EDF2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52578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Business Analytics and AI to deliver evidence-based workforce decision support.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78040" y="1463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are associated with wages?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3796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8040" y="23317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sectors and occupations differ?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537960" y="3200400"/>
            <a:ext cx="457200" cy="45720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78040" y="3200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AI improve wage prediction?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ANSWERS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166360" cy="1965960"/>
          </a:xfrm>
          <a:prstGeom prst="roundRect">
            <a:avLst>
              <a:gd name="adj" fmla="val 4186"/>
            </a:avLst>
          </a:prstGeom>
          <a:solidFill>
            <a:srgbClr val="EDF2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education relate to reported daily wages?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35040" y="1508760"/>
            <a:ext cx="5166360" cy="1965960"/>
          </a:xfrm>
          <a:prstGeom prst="roundRect">
            <a:avLst>
              <a:gd name="adj" fmla="val 4186"/>
            </a:avLst>
          </a:prstGeom>
          <a:solidFill>
            <a:srgbClr val="EDF2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09360" y="24231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occupations and industries differ in wages and working hours?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166360" cy="1965960"/>
          </a:xfrm>
          <a:prstGeom prst="roundRect">
            <a:avLst>
              <a:gd name="adj" fmla="val 4186"/>
            </a:avLst>
          </a:prstGeom>
          <a:solidFill>
            <a:srgbClr val="EDF2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7548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relationship between working hours and wages?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035040" y="3840480"/>
            <a:ext cx="5166360" cy="1965960"/>
          </a:xfrm>
          <a:prstGeom prst="roundRect">
            <a:avLst>
              <a:gd name="adj" fmla="val 4186"/>
            </a:avLst>
          </a:prstGeom>
          <a:solidFill>
            <a:srgbClr val="EDF2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47548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worker characteristics predict reported daily wages using machine learning?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RECORDS TO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EDF2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415,549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× 140 variables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904488" y="201168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42C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06240" y="146304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EDF2FC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DATASET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34840" y="19019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164,046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43484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retained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07808" y="2011680"/>
            <a:ext cx="292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42C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909560" y="146304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DATASET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38160" y="190195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27,523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813816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positive-wage observations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WORKFLOW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206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" y="5056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280160" y="4594860"/>
            <a:ext cx="952500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32660" y="4206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223266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912620" y="5056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09900" y="4594860"/>
            <a:ext cx="952500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62400" y="4206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396240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42360" y="5056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9640" y="4594860"/>
            <a:ext cx="952500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92140" y="4206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569214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72100" y="5056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69380" y="4594860"/>
            <a:ext cx="952500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21880" y="4206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742188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01840" y="5056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199120" y="4594860"/>
            <a:ext cx="952500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51620" y="42062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915162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831580" y="5056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928860" y="4594860"/>
            <a:ext cx="952500" cy="0"/>
          </a:xfrm>
          <a:prstGeom prst="line">
            <a:avLst/>
          </a:prstGeom>
          <a:noFill/>
          <a:ln w="28575">
            <a:solidFill>
              <a:srgbClr val="CADC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881360" y="4206240"/>
            <a:ext cx="777240" cy="77724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44" name="Text 42"/>
          <p:cNvSpPr/>
          <p:nvPr/>
        </p:nvSpPr>
        <p:spPr>
          <a:xfrm>
            <a:off x="1088136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561320" y="505663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Hours by Education Level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00200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EDF2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20574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506.458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32918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with higher secondary education report the longest average working day; not-literate workers report the shortest.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Wage by Education Level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00200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EDF2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20574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171.891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32918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reported daily wage rises steadily with educational attainment.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PLFS analysis | Values are reported positive daily-wage averages.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Wage by Occupation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43800" y="160020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skilled-trade occupations command the highest reported daily wages; agricultural occupations lag well behind.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PLFS analysis | Values are reported positive daily-wage averages.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Wage by Industry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00200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EDF2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764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20574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2780.626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543800" y="3291840"/>
            <a:ext cx="4160520" cy="1417320"/>
          </a:xfrm>
          <a:prstGeom prst="roundRect">
            <a:avLst>
              <a:gd name="adj" fmla="val 5806"/>
            </a:avLst>
          </a:prstGeom>
          <a:solidFill>
            <a:srgbClr val="EDF2FC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(TUKEY)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37490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differs significantly from Industry and Services. Industry vs. Services is not significant.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PLFS analysis | Values are reported positive daily-wage averages.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Hours vs. Wage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4688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0.102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positive association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74920" y="1792224"/>
            <a:ext cx="146304" cy="146304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16459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working hours alone do not strongly explain differences in reported daily wages.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74920" y="3118104"/>
            <a:ext cx="146304" cy="146304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29718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variation is driven far more by education, occupation, and industry than by hours worked.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74920" y="4443984"/>
            <a:ext cx="146304" cy="146304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0" y="429768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does not establish causation — this relationship should not be read as a causal effect.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Machine Learning: Wage Prediction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1417320"/>
            <a:ext cx="5806440" cy="1234440"/>
          </a:xfrm>
          <a:prstGeom prst="roundRect">
            <a:avLst>
              <a:gd name="adj" fmla="val 5926"/>
            </a:avLst>
          </a:prstGeom>
          <a:solidFill>
            <a:srgbClr val="EDF2FC"/>
          </a:solidFill>
          <a:ln/>
        </p:spPr>
      </p:sp>
      <p:sp>
        <p:nvSpPr>
          <p:cNvPr id="6" name="Text 3"/>
          <p:cNvSpPr/>
          <p:nvPr/>
        </p:nvSpPr>
        <p:spPr>
          <a:xfrm>
            <a:off x="6126480" y="15270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Baseline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052560" y="1508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052560" y="19476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9921240" y="1508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₹136.10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921240" y="19476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789920" y="1508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₹185.41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789920" y="19476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97880" y="2834640"/>
            <a:ext cx="5806440" cy="1234440"/>
          </a:xfrm>
          <a:prstGeom prst="roundRect">
            <a:avLst>
              <a:gd name="adj" fmla="val 5926"/>
            </a:avLst>
          </a:prstGeom>
          <a:solidFill>
            <a:srgbClr val="EDF2FC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9443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Random Forest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052560" y="2926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0.227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052560" y="33649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9921240" y="2926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₹115.35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921240" y="33649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0789920" y="2926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₹163.05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789920" y="33649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897880" y="4251960"/>
            <a:ext cx="58064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2" name="Text 19"/>
          <p:cNvSpPr/>
          <p:nvPr/>
        </p:nvSpPr>
        <p:spPr>
          <a:xfrm>
            <a:off x="6126480" y="43616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Random Forest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9052560" y="43434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0.309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9052560" y="47823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9921240" y="43434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₹108.22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9921240" y="47823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0789920" y="434340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9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₹154.08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789920" y="47823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897880" y="57150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model includes hours, education, occupation, industry, sex, and vocational-training variables.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Insights &amp; Business Recommendations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7220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72200" y="18288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6172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0" y="18288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skills development for lower-wage occupations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248716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617220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75120" y="24871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vocational upskilling programs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72200" y="31455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31455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occupational mobility out of low-wage agriculture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2200" y="38039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61722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75120" y="38039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workforce planning by sector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72200" y="44622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0" y="44622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AI-supported labour-market intelligence tools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292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indicates predictive contribution, not causation.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9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Business Analytics can transform labour-market data into decision-support insights.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5568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1031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578608"/>
            <a:ext cx="128016" cy="128016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414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shows persistently lower reported wages than industry or services.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3538728"/>
            <a:ext cx="128016" cy="128016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40156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Specialised, technical occupations command higher wages.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4498848"/>
            <a:ext cx="128016" cy="128016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3616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groups differ significantly in both wages and hours worked.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5458968"/>
            <a:ext cx="128016" cy="128016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532180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hours–wage association is weak — hours alone do not explain pay.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2103120"/>
            <a:ext cx="0" cy="393192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1031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514600"/>
            <a:ext cx="365760" cy="36576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22592" y="2514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modelling with XGBoost / Gradient Boosting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37960" y="3264408"/>
            <a:ext cx="365760" cy="36576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22592" y="3264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for transparent, worker-level explainability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37960" y="4014216"/>
            <a:ext cx="365760" cy="36576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22592" y="40142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additional PLFS survey years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37960" y="4764024"/>
            <a:ext cx="365760" cy="36576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22592" y="47640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geographic (state / district) variables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37960" y="5513832"/>
            <a:ext cx="365760" cy="365760"/>
          </a:xfrm>
          <a:prstGeom prst="ellipse">
            <a:avLst/>
          </a:prstGeom>
          <a:solidFill>
            <a:srgbClr val="C9942C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22592" y="55138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insights via a Power BI / Tableau dashboard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2026-08-28T02:14:26Z</dcterms:created>
  <dcterms:modified xsi:type="dcterms:W3CDTF">2026-08-28T02:14:26Z</dcterms:modified>
</cp:coreProperties>
</file>